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72" d="100"/>
          <a:sy n="72" d="100"/>
        </p:scale>
        <p:origin x="671" y="41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34595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09A5D-B3FB-7683-3617-3E4EC3BD6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A152BC-29FF-47A3-2117-40803451CE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606910-250F-564B-B0D3-6421110A3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0B8165-8AC7-720F-1C1A-304ED82854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742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d51/smartgrid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smartgrid-e2ravxbaczgefysvkuoa4m.streamlit.app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F6C44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6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RDMU · MAIB DSC 103 · TOPIC 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Energy Grid Optimizer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338328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Decision-making under uncertainty: balancing renewables, fossil generation</a:t>
            </a:r>
            <a:endParaRPr lang="en-US" sz="1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storage with constraint programming and reinforcement learning.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4526280"/>
            <a:ext cx="146304" cy="146304"/>
          </a:xfrm>
          <a:prstGeom prst="ellipse">
            <a:avLst/>
          </a:prstGeom>
          <a:solidFill>
            <a:srgbClr val="F6C445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443984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011680" y="4526280"/>
            <a:ext cx="146304" cy="146304"/>
          </a:xfrm>
          <a:prstGeom prst="ellipse">
            <a:avLst/>
          </a:prstGeom>
          <a:solidFill>
            <a:srgbClr val="4FC3D9"/>
          </a:solidFill>
          <a:ln/>
        </p:spPr>
      </p:sp>
      <p:sp>
        <p:nvSpPr>
          <p:cNvPr id="9" name="Text 7"/>
          <p:cNvSpPr/>
          <p:nvPr/>
        </p:nvSpPr>
        <p:spPr>
          <a:xfrm>
            <a:off x="2212848" y="4443984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74720" y="4526280"/>
            <a:ext cx="146304" cy="146304"/>
          </a:xfrm>
          <a:prstGeom prst="ellipse">
            <a:avLst/>
          </a:prstGeom>
          <a:solidFill>
            <a:srgbClr val="E8743B"/>
          </a:solidFill>
          <a:ln/>
        </p:spPr>
      </p:sp>
      <p:sp>
        <p:nvSpPr>
          <p:cNvPr id="11" name="Text 9"/>
          <p:cNvSpPr/>
          <p:nvPr/>
        </p:nvSpPr>
        <p:spPr>
          <a:xfrm>
            <a:off x="3675888" y="4443984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937760" y="4526280"/>
            <a:ext cx="146304" cy="146304"/>
          </a:xfrm>
          <a:prstGeom prst="ellipse">
            <a:avLst/>
          </a:prstGeom>
          <a:solidFill>
            <a:srgbClr val="9B8CFF"/>
          </a:solidFill>
          <a:ln/>
        </p:spPr>
      </p:sp>
      <p:sp>
        <p:nvSpPr>
          <p:cNvPr id="13" name="Text 11"/>
          <p:cNvSpPr/>
          <p:nvPr/>
        </p:nvSpPr>
        <p:spPr>
          <a:xfrm>
            <a:off x="5138928" y="4443984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REQUIREMENT UNDERSTANDING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we are solving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1645920"/>
          </a:xfrm>
          <a:prstGeom prst="roundRect">
            <a:avLst>
              <a:gd name="adj" fmla="val 4444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29968"/>
            <a:ext cx="146304" cy="146304"/>
          </a:xfrm>
          <a:prstGeom prst="ellipse">
            <a:avLst/>
          </a:prstGeom>
          <a:solidFill>
            <a:srgbClr val="F6C445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9385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demand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smart-city grid must serve a fluctuating daily load every hour without blackouts.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349240" cy="1645920"/>
          </a:xfrm>
          <a:prstGeom prst="roundRect">
            <a:avLst>
              <a:gd name="adj" fmla="val 4444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2029968"/>
            <a:ext cx="146304" cy="146304"/>
          </a:xfrm>
          <a:prstGeom prst="ellipse">
            <a:avLst/>
          </a:prstGeom>
          <a:solidFill>
            <a:srgbClr val="F6C445"/>
          </a:solidFill>
          <a:ln/>
        </p:spPr>
      </p:sp>
      <p:sp>
        <p:nvSpPr>
          <p:cNvPr id="10" name="Text 8"/>
          <p:cNvSpPr/>
          <p:nvPr/>
        </p:nvSpPr>
        <p:spPr>
          <a:xfrm>
            <a:off x="6720840" y="19385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 uncertainty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46520" y="242316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and renewable output are stochastic and only known through noisy forecasts.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566160"/>
            <a:ext cx="5349240" cy="1645920"/>
          </a:xfrm>
          <a:prstGeom prst="roundRect">
            <a:avLst>
              <a:gd name="adj" fmla="val 4444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858768"/>
            <a:ext cx="146304" cy="146304"/>
          </a:xfrm>
          <a:prstGeom prst="ellipse">
            <a:avLst/>
          </a:prstGeom>
          <a:solidFill>
            <a:srgbClr val="F6C445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37673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Within constraints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22960" y="425196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 capacities, battery limits and a daily CO₂ cap must never be violated.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172200" y="3566160"/>
            <a:ext cx="5349240" cy="1645920"/>
          </a:xfrm>
          <a:prstGeom prst="roundRect">
            <a:avLst>
              <a:gd name="adj" fmla="val 4444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46520" y="3858768"/>
            <a:ext cx="146304" cy="146304"/>
          </a:xfrm>
          <a:prstGeom prst="ellipse">
            <a:avLst/>
          </a:prstGeom>
          <a:solidFill>
            <a:srgbClr val="F6C445"/>
          </a:solidFill>
          <a:ln/>
        </p:spPr>
      </p:sp>
      <p:sp>
        <p:nvSpPr>
          <p:cNvPr id="18" name="Text 16"/>
          <p:cNvSpPr/>
          <p:nvPr/>
        </p:nvSpPr>
        <p:spPr>
          <a:xfrm>
            <a:off x="6720840" y="3767328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Optimise trade-offs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446520" y="425196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 cost and emissions while keeping the grid reliable — a multicriteria goal.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KEY RDMU CONCEPTS APPLIED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course concepts — genuinely used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47672"/>
            <a:ext cx="457200" cy="457200"/>
          </a:xfrm>
          <a:prstGeom prst="ellipse">
            <a:avLst/>
          </a:prstGeom>
          <a:solidFill>
            <a:srgbClr val="F6C44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47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E11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1837944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Markov Decision Process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937760" y="1810512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is modelled as state → action → reward: state = forecasts, battery charge, time, remaining carbon budget.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026664"/>
            <a:ext cx="457200" cy="457200"/>
          </a:xfrm>
          <a:prstGeom prst="ellipse">
            <a:avLst/>
          </a:prstGeom>
          <a:solidFill>
            <a:srgbClr val="4FC3D9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0266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E11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2916936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Sequential Decision Making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937760" y="2889504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storage couples hours together — charging now changes what is optimal later across the 24-hour horizon.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849624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105656"/>
            <a:ext cx="457200" cy="457200"/>
          </a:xfrm>
          <a:prstGeom prst="ellipse">
            <a:avLst/>
          </a:prstGeom>
          <a:solidFill>
            <a:srgbClr val="E8743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1056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E11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3995928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Methods for Estimation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937760" y="3968496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 sees the truth: it acts on noisy forecasts of demand and renewable availability.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928616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184648"/>
            <a:ext cx="457200" cy="457200"/>
          </a:xfrm>
          <a:prstGeom prst="ellipse">
            <a:avLst/>
          </a:prstGeom>
          <a:solidFill>
            <a:srgbClr val="9B8CFF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1846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E11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5074920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Multicriteria Decision Making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937760" y="5047488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Cost, emissions and reliability are competing objectives, resolved as a Pareto trade-off.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263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Utility Theory — the reward function is a utility over the weighted objective.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APPLICATION FLOW CHART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decision is made each hour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606040"/>
            <a:ext cx="146304" cy="146304"/>
          </a:xfrm>
          <a:prstGeom prst="ellipse">
            <a:avLst/>
          </a:prstGeom>
          <a:solidFill>
            <a:srgbClr val="4FC3D9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8803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Noisy forecast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3375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· solar · wind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560320" y="2377440"/>
            <a:ext cx="274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834640" y="237744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63240" y="2606040"/>
            <a:ext cx="146304" cy="146304"/>
          </a:xfrm>
          <a:prstGeom prst="ellipse">
            <a:avLst/>
          </a:prstGeom>
          <a:solidFill>
            <a:srgbClr val="F6C445"/>
          </a:solidFill>
          <a:ln/>
        </p:spPr>
      </p:sp>
      <p:sp>
        <p:nvSpPr>
          <p:cNvPr id="11" name="Text 9"/>
          <p:cNvSpPr/>
          <p:nvPr/>
        </p:nvSpPr>
        <p:spPr>
          <a:xfrm>
            <a:off x="3017520" y="28803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MDP state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017520" y="33375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battery, time, CO₂ left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846320" y="2377440"/>
            <a:ext cx="274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120640" y="237744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349240" y="2606040"/>
            <a:ext cx="146304" cy="146304"/>
          </a:xfrm>
          <a:prstGeom prst="ellipse">
            <a:avLst/>
          </a:prstGeom>
          <a:solidFill>
            <a:srgbClr val="E8743B"/>
          </a:solidFill>
          <a:ln/>
        </p:spPr>
      </p:sp>
      <p:sp>
        <p:nvSpPr>
          <p:cNvPr id="16" name="Text 14"/>
          <p:cNvSpPr/>
          <p:nvPr/>
        </p:nvSpPr>
        <p:spPr>
          <a:xfrm>
            <a:off x="5303520" y="28803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engine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303520" y="33375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solver  /  SAC agent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132320" y="2377440"/>
            <a:ext cx="274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406640" y="237744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635240" y="2606040"/>
            <a:ext cx="146304" cy="146304"/>
          </a:xfrm>
          <a:prstGeom prst="ellipse">
            <a:avLst/>
          </a:prstGeom>
          <a:solidFill>
            <a:srgbClr val="9B8CFF"/>
          </a:solidFill>
          <a:ln/>
        </p:spPr>
      </p:sp>
      <p:sp>
        <p:nvSpPr>
          <p:cNvPr id="21" name="Text 19"/>
          <p:cNvSpPr/>
          <p:nvPr/>
        </p:nvSpPr>
        <p:spPr>
          <a:xfrm>
            <a:off x="7589520" y="28803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589520" y="33375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 feasibility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418320" y="2377440"/>
            <a:ext cx="274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692640" y="2377440"/>
            <a:ext cx="2011680" cy="1554480"/>
          </a:xfrm>
          <a:prstGeom prst="roundRect">
            <a:avLst>
              <a:gd name="adj" fmla="val 4706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921240" y="2606040"/>
            <a:ext cx="146304" cy="146304"/>
          </a:xfrm>
          <a:prstGeom prst="ellipse">
            <a:avLst/>
          </a:prstGeom>
          <a:solidFill>
            <a:srgbClr val="4FC3D9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0" y="288036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 dispatch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875520" y="33375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battery &amp; emissions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4572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repeats for all 24 hours of the simulated day; the projection step guarantees every decision is physically feasible.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PREREQUISITES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takes to run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148840"/>
            <a:ext cx="146304" cy="146304"/>
          </a:xfrm>
          <a:prstGeom prst="ellipse">
            <a:avLst/>
          </a:prstGeom>
          <a:solidFill>
            <a:srgbClr val="F6C445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1901952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023360" y="1901952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 · runs on CPU, no GPU required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807208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3172968"/>
            <a:ext cx="146304" cy="146304"/>
          </a:xfrm>
          <a:prstGeom prst="ellipse">
            <a:avLst/>
          </a:prstGeom>
          <a:solidFill>
            <a:srgbClr val="4FC3D9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" y="292608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libraries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023360" y="29260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· cvxpy (LP) · stable-baselines3 (SAC) · gymnasium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831336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8680" y="4197096"/>
            <a:ext cx="146304" cy="146304"/>
          </a:xfrm>
          <a:prstGeom prst="ellipse">
            <a:avLst/>
          </a:prstGeom>
          <a:solidFill>
            <a:srgbClr val="E8743B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" y="3950208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023360" y="395020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Plotly dashboard; Colab notebook for reproduction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855464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8680" y="5221224"/>
            <a:ext cx="146304" cy="146304"/>
          </a:xfrm>
          <a:prstGeom prst="ellipse">
            <a:avLst/>
          </a:prstGeom>
          <a:solidFill>
            <a:srgbClr val="9B8CFF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4974336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023360" y="4974336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 SAC checkpoint ships in the repo for instant demo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DESCRIPTION OF DATA USED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calibrated synthetic grid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2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synthetic? </a:t>
            </a:r>
            <a:r>
              <a:rPr lang="en-US" sz="140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controllable simulator lets us inject known uncertainty and test policies under disruptions a fixed dataset could not provide.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56032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6C4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200400" y="25603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Double-peak daily curve, 80–162 MW, with Gaussian noise (the uncertainty)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401568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493008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C3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Solar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00400" y="349300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Midday bell shaped by daylight, scaled by renewable-penetration slider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334256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425696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C3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00400" y="4425696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 availability across the day, partly anti-correlated with solar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5266944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5358384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7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00400" y="5358384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($/MWh) and emission (tCO₂/MWh) factors per generator type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DASHBOARD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dispatch control room</a:t>
            </a:r>
            <a:endParaRPr lang="en-US" sz="3400" dirty="0"/>
          </a:p>
        </p:txBody>
      </p:sp>
      <p:pic>
        <p:nvPicPr>
          <p:cNvPr id="4" name="Image 0" descr="assets/fig_dispa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45920"/>
            <a:ext cx="7680960" cy="3931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503920" y="1645920"/>
            <a:ext cx="3108960" cy="3931920"/>
          </a:xfrm>
          <a:prstGeom prst="roundRect">
            <a:avLst>
              <a:gd name="adj" fmla="val 2353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732520" y="18288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chart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732520" y="2286000"/>
            <a:ext cx="2697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peaks at midday; wind carries mornings and evenings.</a:t>
            </a:r>
            <a:endParaRPr lang="en-US" sz="1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fills the residual gap; coal only when forced.</a:t>
            </a:r>
            <a:endParaRPr lang="en-US" sz="1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 line = demand. Stack meets it every hour: no blackouts.</a:t>
            </a:r>
            <a:endParaRPr lang="en-US" sz="1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Sliders re-run the grid live: penetration, variability, carbon price.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TWO DECISION ENGINES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Constraint solver vs. learned policy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116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FC3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 B — Constraint solver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49377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program solved each hour (cvxpy).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Provably optimal for the modelled problem.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fails — the reliable baseline.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Embodies Constraint Programming + Multicriteria.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783080"/>
            <a:ext cx="5440680" cy="3566160"/>
          </a:xfrm>
          <a:prstGeom prst="roundRect">
            <a:avLst>
              <a:gd name="adj" fmla="val 2051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20116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8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 A — SAC + projection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46520" y="2560320"/>
            <a:ext cx="49377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Actor-Critic learns a dispatch policy.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Entropy-driven exploration vs. exploitation.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projection layer forces every action feasible.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"Safe RL" — adapts to dynamics the LP cannot model.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LP is the optimal benchmark; the agent trades a little optimality for adaptability — and the projection keeps it safe.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SENSITIVITY ANALYSIS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cost–emissions trade-off</a:t>
            </a:r>
            <a:endParaRPr lang="en-US" sz="3400" dirty="0"/>
          </a:p>
        </p:txBody>
      </p:sp>
      <p:pic>
        <p:nvPicPr>
          <p:cNvPr id="4" name="Image 0" descr="assets/fig_pare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45920"/>
            <a:ext cx="7680960" cy="3931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503920" y="1645920"/>
            <a:ext cx="3108960" cy="3931920"/>
          </a:xfrm>
          <a:prstGeom prst="roundRect">
            <a:avLst>
              <a:gd name="adj" fmla="val 2353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732520" y="18288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Multicriteria insight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732520" y="2286000"/>
            <a:ext cx="2697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point is a different carbon price ($/tCO₂).</a:t>
            </a:r>
            <a:endParaRPr lang="en-US" sz="1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 the price cuts emissions sharply at first…</a:t>
            </a:r>
            <a:endParaRPr lang="en-US" sz="1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…then flattens — the renewable/storage limit binds.</a:t>
            </a:r>
            <a:endParaRPr lang="en-US" sz="1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0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frontier is the heart of the decision under uncertainty.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F6C44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OUTCOMES &amp; METRICS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module delivers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0116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6C4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63%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31520" y="278892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Renewable share at base settings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37560" y="182880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20116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4FC3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MWh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520440" y="278892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Unmet demand — full reliability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26480" y="182880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20116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87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~50%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309360" y="278892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Emissions cut as carbon price rises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915400" y="182880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171B26"/>
          </a:solidFill>
          <a:ln w="12700">
            <a:solidFill>
              <a:srgbClr val="262C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98280" y="20116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9B8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h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98280" y="278892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horizon optimised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39319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4CB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Deliverables: stochastic grid simulator · LP + SAC engines · interactive Streamlit dashboard · Pareto sensitivity · reproducible Colab notebook.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48640" y="4754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 demonstrated: Markov Decision Process · Sequential Decision Making · Methods for Estimation · Multicriteria Decision Making (+ Utility Theory).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0D6C63-C001-BC56-D426-AACD1617A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52D62E4-0CFF-33BD-F42C-A3A4625D6FA8}"/>
              </a:ext>
            </a:extLst>
          </p:cNvPr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F6C445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DFE956E-1F8A-C930-5812-2838C6A37D4B}"/>
              </a:ext>
            </a:extLst>
          </p:cNvPr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 REPO LINK &amp; STREAMLIT LINK</a:t>
            </a:r>
            <a:endParaRPr lang="en-US" sz="11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787E921-6AF1-6A0D-AD42-5C7BEA4C321F}"/>
              </a:ext>
            </a:extLst>
          </p:cNvPr>
          <p:cNvSpPr/>
          <p:nvPr/>
        </p:nvSpPr>
        <p:spPr>
          <a:xfrm>
            <a:off x="548640" y="1752600"/>
            <a:ext cx="11064240" cy="3429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4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 Link:</a:t>
            </a:r>
            <a:br>
              <a:rPr lang="en-US" sz="34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</a:br>
            <a:r>
              <a:rPr lang="en-US" sz="34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3"/>
              </a:rPr>
              <a:t>https://github.com/rd51/smartgrid</a:t>
            </a:r>
            <a:endParaRPr lang="en-US" sz="3400" b="1" dirty="0">
              <a:solidFill>
                <a:srgbClr val="F2F4F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endParaRPr lang="en-US" sz="3400" b="1" dirty="0">
              <a:solidFill>
                <a:srgbClr val="F2F4F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r>
              <a:rPr lang="en-US" sz="3400" b="1" dirty="0" err="1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Streamlit</a:t>
            </a:r>
            <a:r>
              <a:rPr lang="en-US" sz="34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Link:</a:t>
            </a:r>
          </a:p>
          <a:p>
            <a:r>
              <a:rPr lang="en-US" sz="3400" b="1" dirty="0">
                <a:solidFill>
                  <a:srgbClr val="F2F4F8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4"/>
              </a:rPr>
              <a:t>https://smartgrid-e2ravxbaczgefysvkuoa4m.streamlit.app/</a:t>
            </a:r>
            <a:endParaRPr lang="en-US" sz="3400" b="1" dirty="0">
              <a:solidFill>
                <a:srgbClr val="F2F4F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endParaRPr lang="en-US" sz="3400" b="1" dirty="0">
              <a:solidFill>
                <a:srgbClr val="F2F4F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endParaRPr lang="en-US" sz="3400" b="1" dirty="0">
              <a:solidFill>
                <a:srgbClr val="F2F4F8"/>
              </a:solidFill>
              <a:latin typeface="Cambria" pitchFamily="34" charset="0"/>
              <a:ea typeface="Cambria" pitchFamily="34" charset="-122"/>
            </a:endParaRPr>
          </a:p>
          <a:p>
            <a:endParaRPr lang="en-US" sz="3400" dirty="0"/>
          </a:p>
        </p:txBody>
      </p:sp>
    </p:spTree>
    <p:extLst>
      <p:ext uri="{BB962C8B-B14F-4D97-AF65-F5344CB8AC3E}">
        <p14:creationId xmlns:p14="http://schemas.microsoft.com/office/powerpoint/2010/main" val="40804088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783</Words>
  <Application>Microsoft Office PowerPoint</Application>
  <PresentationFormat>Widescreen</PresentationFormat>
  <Paragraphs>127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Energy Grid Optimizer</dc:title>
  <dc:subject>PptxGenJS Presentation</dc:subject>
  <dc:creator>RDMU Topic 5</dc:creator>
  <cp:lastModifiedBy>Rakshanda Dhote</cp:lastModifiedBy>
  <cp:revision>2</cp:revision>
  <dcterms:created xsi:type="dcterms:W3CDTF">2026-06-10T10:04:48Z</dcterms:created>
  <dcterms:modified xsi:type="dcterms:W3CDTF">2026-06-10T12:30:34Z</dcterms:modified>
</cp:coreProperties>
</file>